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8778200" cy="43180000"/>
  <p:notesSz cx="6858000" cy="9144000"/>
  <p:embeddedFontLst>
    <p:embeddedFont>
      <p:font typeface="Open Sans Bold" charset="1" panose="00000000000000000000"/>
      <p:regular r:id="rId7"/>
    </p:embeddedFont>
    <p:embeddedFont>
      <p:font typeface="Open Sans" charset="1" panose="00000000000000000000"/>
      <p:regular r:id="rId8"/>
    </p:embeddedFont>
    <p:embeddedFont>
      <p:font typeface="Inter Bold" charset="1" panose="020005030000000200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4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4725" y="36273038"/>
            <a:ext cx="29324846" cy="6968080"/>
          </a:xfrm>
          <a:custGeom>
            <a:avLst/>
            <a:gdLst/>
            <a:ahLst/>
            <a:cxnLst/>
            <a:rect r="r" b="b" t="t" l="l"/>
            <a:pathLst>
              <a:path h="6968080" w="29324846">
                <a:moveTo>
                  <a:pt x="0" y="0"/>
                </a:moveTo>
                <a:lnTo>
                  <a:pt x="29324847" y="0"/>
                </a:lnTo>
                <a:lnTo>
                  <a:pt x="29324847" y="6968081"/>
                </a:lnTo>
                <a:lnTo>
                  <a:pt x="0" y="6968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63233" y="34829696"/>
            <a:ext cx="22769151" cy="14311008"/>
            <a:chOff x="0" y="0"/>
            <a:chExt cx="30358867" cy="190813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358842" cy="19081369"/>
            </a:xfrm>
            <a:custGeom>
              <a:avLst/>
              <a:gdLst/>
              <a:ahLst/>
              <a:cxnLst/>
              <a:rect r="r" b="b" t="t" l="l"/>
              <a:pathLst>
                <a:path h="19081369" w="30358842">
                  <a:moveTo>
                    <a:pt x="0" y="0"/>
                  </a:moveTo>
                  <a:lnTo>
                    <a:pt x="30358842" y="0"/>
                  </a:lnTo>
                  <a:lnTo>
                    <a:pt x="30358842" y="19081369"/>
                  </a:lnTo>
                  <a:lnTo>
                    <a:pt x="0" y="19081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538" r="0" b="-24538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34725" y="28800362"/>
            <a:ext cx="29304072" cy="9759744"/>
          </a:xfrm>
          <a:custGeom>
            <a:avLst/>
            <a:gdLst/>
            <a:ahLst/>
            <a:cxnLst/>
            <a:rect r="r" b="b" t="t" l="l"/>
            <a:pathLst>
              <a:path h="9759744" w="29304072">
                <a:moveTo>
                  <a:pt x="0" y="0"/>
                </a:moveTo>
                <a:lnTo>
                  <a:pt x="29304073" y="0"/>
                </a:lnTo>
                <a:lnTo>
                  <a:pt x="29304073" y="9759743"/>
                </a:lnTo>
                <a:lnTo>
                  <a:pt x="0" y="97597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34715" y="21010293"/>
            <a:ext cx="29324846" cy="9460535"/>
          </a:xfrm>
          <a:custGeom>
            <a:avLst/>
            <a:gdLst/>
            <a:ahLst/>
            <a:cxnLst/>
            <a:rect r="r" b="b" t="t" l="l"/>
            <a:pathLst>
              <a:path h="9460535" w="29324846">
                <a:moveTo>
                  <a:pt x="0" y="0"/>
                </a:moveTo>
                <a:lnTo>
                  <a:pt x="29324846" y="0"/>
                </a:lnTo>
                <a:lnTo>
                  <a:pt x="29324846" y="9460534"/>
                </a:lnTo>
                <a:lnTo>
                  <a:pt x="0" y="9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4725" y="15561374"/>
            <a:ext cx="29304072" cy="8372961"/>
          </a:xfrm>
          <a:custGeom>
            <a:avLst/>
            <a:gdLst/>
            <a:ahLst/>
            <a:cxnLst/>
            <a:rect r="r" b="b" t="t" l="l"/>
            <a:pathLst>
              <a:path h="8372961" w="29304072">
                <a:moveTo>
                  <a:pt x="0" y="0"/>
                </a:moveTo>
                <a:lnTo>
                  <a:pt x="29304073" y="0"/>
                </a:lnTo>
                <a:lnTo>
                  <a:pt x="29304073" y="8372960"/>
                </a:lnTo>
                <a:lnTo>
                  <a:pt x="0" y="83729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34715" y="6816147"/>
            <a:ext cx="29304072" cy="9226115"/>
          </a:xfrm>
          <a:custGeom>
            <a:avLst/>
            <a:gdLst/>
            <a:ahLst/>
            <a:cxnLst/>
            <a:rect r="r" b="b" t="t" l="l"/>
            <a:pathLst>
              <a:path h="9226115" w="29304072">
                <a:moveTo>
                  <a:pt x="0" y="0"/>
                </a:moveTo>
                <a:lnTo>
                  <a:pt x="29304072" y="0"/>
                </a:lnTo>
                <a:lnTo>
                  <a:pt x="29304072" y="9226115"/>
                </a:lnTo>
                <a:lnTo>
                  <a:pt x="0" y="92261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34715" y="-573881"/>
            <a:ext cx="29324837" cy="9050017"/>
          </a:xfrm>
          <a:custGeom>
            <a:avLst/>
            <a:gdLst/>
            <a:ahLst/>
            <a:cxnLst/>
            <a:rect r="r" b="b" t="t" l="l"/>
            <a:pathLst>
              <a:path h="9050017" w="29324837">
                <a:moveTo>
                  <a:pt x="0" y="0"/>
                </a:moveTo>
                <a:lnTo>
                  <a:pt x="29324837" y="0"/>
                </a:lnTo>
                <a:lnTo>
                  <a:pt x="29324837" y="9050017"/>
                </a:lnTo>
                <a:lnTo>
                  <a:pt x="0" y="90500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799393" y="9368085"/>
            <a:ext cx="13135499" cy="20666859"/>
          </a:xfrm>
          <a:custGeom>
            <a:avLst/>
            <a:gdLst/>
            <a:ahLst/>
            <a:cxnLst/>
            <a:rect r="r" b="b" t="t" l="l"/>
            <a:pathLst>
              <a:path h="20666859" w="13135499">
                <a:moveTo>
                  <a:pt x="0" y="0"/>
                </a:moveTo>
                <a:lnTo>
                  <a:pt x="13135498" y="0"/>
                </a:lnTo>
                <a:lnTo>
                  <a:pt x="13135498" y="20666859"/>
                </a:lnTo>
                <a:lnTo>
                  <a:pt x="0" y="2066685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5884" y="30011218"/>
            <a:ext cx="14051137" cy="9336281"/>
          </a:xfrm>
          <a:custGeom>
            <a:avLst/>
            <a:gdLst/>
            <a:ahLst/>
            <a:cxnLst/>
            <a:rect r="r" b="b" t="t" l="l"/>
            <a:pathLst>
              <a:path h="9336281" w="14051137">
                <a:moveTo>
                  <a:pt x="0" y="0"/>
                </a:moveTo>
                <a:lnTo>
                  <a:pt x="14051137" y="0"/>
                </a:lnTo>
                <a:lnTo>
                  <a:pt x="14051137" y="9336281"/>
                </a:lnTo>
                <a:lnTo>
                  <a:pt x="0" y="933628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313523" y="30138548"/>
            <a:ext cx="12706788" cy="8215579"/>
          </a:xfrm>
          <a:custGeom>
            <a:avLst/>
            <a:gdLst/>
            <a:ahLst/>
            <a:cxnLst/>
            <a:rect r="r" b="b" t="t" l="l"/>
            <a:pathLst>
              <a:path h="8215579" w="12706788">
                <a:moveTo>
                  <a:pt x="0" y="0"/>
                </a:moveTo>
                <a:lnTo>
                  <a:pt x="12706789" y="0"/>
                </a:lnTo>
                <a:lnTo>
                  <a:pt x="12706789" y="8215579"/>
                </a:lnTo>
                <a:lnTo>
                  <a:pt x="0" y="821557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-916543" y="1525353"/>
            <a:ext cx="8571186" cy="2454221"/>
            <a:chOff x="0" y="0"/>
            <a:chExt cx="11428247" cy="32722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28222" cy="3272282"/>
            </a:xfrm>
            <a:custGeom>
              <a:avLst/>
              <a:gdLst/>
              <a:ahLst/>
              <a:cxnLst/>
              <a:rect r="r" b="b" t="t" l="l"/>
              <a:pathLst>
                <a:path h="3272282" w="11428222">
                  <a:moveTo>
                    <a:pt x="0" y="0"/>
                  </a:moveTo>
                  <a:lnTo>
                    <a:pt x="11428222" y="0"/>
                  </a:lnTo>
                  <a:lnTo>
                    <a:pt x="11428222" y="3272282"/>
                  </a:lnTo>
                  <a:lnTo>
                    <a:pt x="0" y="3272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163233" y="-4997463"/>
            <a:ext cx="22769151" cy="14311008"/>
            <a:chOff x="0" y="0"/>
            <a:chExt cx="30358867" cy="190813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358842" cy="19081369"/>
            </a:xfrm>
            <a:custGeom>
              <a:avLst/>
              <a:gdLst/>
              <a:ahLst/>
              <a:cxnLst/>
              <a:rect r="r" b="b" t="t" l="l"/>
              <a:pathLst>
                <a:path h="19081369" w="30358842">
                  <a:moveTo>
                    <a:pt x="0" y="0"/>
                  </a:moveTo>
                  <a:lnTo>
                    <a:pt x="30358842" y="0"/>
                  </a:lnTo>
                  <a:lnTo>
                    <a:pt x="30358842" y="19081369"/>
                  </a:lnTo>
                  <a:lnTo>
                    <a:pt x="0" y="19081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538" r="0" b="-24538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1014303" y="1712014"/>
            <a:ext cx="7228389" cy="2335063"/>
            <a:chOff x="0" y="0"/>
            <a:chExt cx="9637852" cy="31134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37903" cy="3113405"/>
            </a:xfrm>
            <a:custGeom>
              <a:avLst/>
              <a:gdLst/>
              <a:ahLst/>
              <a:cxnLst/>
              <a:rect r="r" b="b" t="t" l="l"/>
              <a:pathLst>
                <a:path h="3113405" w="9637903">
                  <a:moveTo>
                    <a:pt x="0" y="0"/>
                  </a:moveTo>
                  <a:lnTo>
                    <a:pt x="9637903" y="0"/>
                  </a:lnTo>
                  <a:lnTo>
                    <a:pt x="9637903" y="3113405"/>
                  </a:lnTo>
                  <a:lnTo>
                    <a:pt x="0" y="3113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165" r="0" b="-166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248335" y="18602412"/>
            <a:ext cx="10643122" cy="4209624"/>
            <a:chOff x="0" y="0"/>
            <a:chExt cx="22444107" cy="88772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444145" cy="8877173"/>
            </a:xfrm>
            <a:custGeom>
              <a:avLst/>
              <a:gdLst/>
              <a:ahLst/>
              <a:cxnLst/>
              <a:rect r="r" b="b" t="t" l="l"/>
              <a:pathLst>
                <a:path h="8877173" w="22444145">
                  <a:moveTo>
                    <a:pt x="0" y="0"/>
                  </a:moveTo>
                  <a:lnTo>
                    <a:pt x="22444145" y="0"/>
                  </a:lnTo>
                  <a:lnTo>
                    <a:pt x="22444145" y="8877173"/>
                  </a:lnTo>
                  <a:lnTo>
                    <a:pt x="0" y="8877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249" r="0" b="-249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432060" y="12185599"/>
            <a:ext cx="4989814" cy="572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5"/>
              </a:lnSpc>
            </a:pPr>
            <a:r>
              <a:rPr lang="en-US" b="true" sz="5077" spc="1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INTRODUÇÃO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420291" y="9450114"/>
            <a:ext cx="14456807" cy="10409558"/>
          </a:xfrm>
          <a:custGeom>
            <a:avLst/>
            <a:gdLst/>
            <a:ahLst/>
            <a:cxnLst/>
            <a:rect r="r" b="b" t="t" l="l"/>
            <a:pathLst>
              <a:path h="10409558" w="14456807">
                <a:moveTo>
                  <a:pt x="0" y="0"/>
                </a:moveTo>
                <a:lnTo>
                  <a:pt x="14456807" y="0"/>
                </a:lnTo>
                <a:lnTo>
                  <a:pt x="14456807" y="10409559"/>
                </a:lnTo>
                <a:lnTo>
                  <a:pt x="0" y="10409559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20291" y="19899725"/>
            <a:ext cx="14456807" cy="10166756"/>
          </a:xfrm>
          <a:custGeom>
            <a:avLst/>
            <a:gdLst/>
            <a:ahLst/>
            <a:cxnLst/>
            <a:rect r="r" b="b" t="t" l="l"/>
            <a:pathLst>
              <a:path h="10166756" w="14456807">
                <a:moveTo>
                  <a:pt x="0" y="0"/>
                </a:moveTo>
                <a:lnTo>
                  <a:pt x="14456807" y="0"/>
                </a:lnTo>
                <a:lnTo>
                  <a:pt x="14456807" y="10166757"/>
                </a:lnTo>
                <a:lnTo>
                  <a:pt x="0" y="1016675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22527254" y="36801438"/>
            <a:ext cx="5609092" cy="5642286"/>
            <a:chOff x="0" y="0"/>
            <a:chExt cx="7478789" cy="75230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478776" cy="7523099"/>
            </a:xfrm>
            <a:custGeom>
              <a:avLst/>
              <a:gdLst/>
              <a:ahLst/>
              <a:cxnLst/>
              <a:rect r="r" b="b" t="t" l="l"/>
              <a:pathLst>
                <a:path h="7523099" w="7478776">
                  <a:moveTo>
                    <a:pt x="0" y="0"/>
                  </a:moveTo>
                  <a:lnTo>
                    <a:pt x="7478776" y="0"/>
                  </a:lnTo>
                  <a:lnTo>
                    <a:pt x="7478776" y="7523099"/>
                  </a:lnTo>
                  <a:lnTo>
                    <a:pt x="0" y="7523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-49" t="0" r="-49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6827865" y="31080427"/>
            <a:ext cx="9484062" cy="5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b="true" sz="476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REFERÊNCIAS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9645" y="3612674"/>
            <a:ext cx="27814905" cy="29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49"/>
              </a:lnSpc>
            </a:pPr>
            <a:r>
              <a:rPr lang="en-US" b="true" sz="11433" spc="43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 </a:t>
            </a:r>
            <a:r>
              <a:rPr lang="en-US" b="true" sz="11433" spc="43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Cannoli FoodTech - Brunettes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66763" y="6536442"/>
            <a:ext cx="24962091" cy="1650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7"/>
              </a:lnSpc>
            </a:pPr>
            <a:r>
              <a:rPr lang="en-US" sz="476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Bruno Eduardo</a:t>
            </a:r>
            <a:r>
              <a:rPr lang="en-US" sz="476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Eric Bittu, Rafael Marques, Vivian Umaki, Yanko Lee</a:t>
            </a:r>
          </a:p>
          <a:p>
            <a:pPr algn="ctr">
              <a:lnSpc>
                <a:spcPts val="6667"/>
              </a:lnSpc>
            </a:pPr>
            <a:r>
              <a:rPr lang="en-US" sz="476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Orientadores: </a:t>
            </a:r>
            <a:r>
              <a:rPr lang="en-US" sz="47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Eduardo Savino, Lucy Tabuti, Maurício Lopes, Rodnil Lisboa, Victor Quiroz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183908" y="17929185"/>
            <a:ext cx="4366468" cy="45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b="true" sz="3429" spc="12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Tela de Visão Geral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561449" y="31080427"/>
            <a:ext cx="10186387" cy="5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b="true" sz="476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TECNOLOGIAS UTILIZADAS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476702" y="9996048"/>
            <a:ext cx="10186387" cy="5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b="true" sz="476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RESULTADOS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758250" y="10553633"/>
            <a:ext cx="10186387" cy="5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b="true" sz="476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PROBLEMA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758259" y="20545973"/>
            <a:ext cx="10186387" cy="5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b="true" sz="476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PROPOSTA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869960" y="32739219"/>
            <a:ext cx="11399872" cy="119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2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BRA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SIL. Lei nº 13.709/2018 – Lei Geral de Proteção de Dados Pessoais (LGPD).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70058" y="31874952"/>
            <a:ext cx="12562770" cy="668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1"/>
              </a:lnSpc>
            </a:pP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Linguagem e visualização</a:t>
            </a:r>
          </a:p>
          <a:p>
            <a:pPr algn="l" marL="740536" indent="-370268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Python </a:t>
            </a:r>
          </a:p>
          <a:p>
            <a:pPr algn="l" marL="740536" indent="-370268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Streamlit</a:t>
            </a:r>
          </a:p>
          <a:p>
            <a:pPr algn="l" marL="740536" indent="-370268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Plotly</a:t>
            </a:r>
          </a:p>
          <a:p>
            <a:pPr algn="just">
              <a:lnSpc>
                <a:spcPts val="4801"/>
              </a:lnSpc>
            </a:pP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Dados e pipeline</a:t>
            </a:r>
          </a:p>
          <a:p>
            <a:pPr algn="l" marL="740536" indent="-370268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Pandas · CSV/Excel</a:t>
            </a:r>
          </a:p>
          <a:p>
            <a:pPr algn="l" marL="740536" indent="-370268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My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SQL</a:t>
            </a:r>
          </a:p>
          <a:p>
            <a:pPr algn="just">
              <a:lnSpc>
                <a:spcPts val="4801"/>
              </a:lnSpc>
            </a:pP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Desenvolvimento e documentação</a:t>
            </a:r>
          </a:p>
          <a:p>
            <a:pPr algn="l" marL="740536" indent="-370268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Git e GitHub · VS Code</a:t>
            </a:r>
          </a:p>
          <a:p>
            <a:pPr algn="just">
              <a:lnSpc>
                <a:spcPts val="4801"/>
              </a:lnSpc>
            </a:pPr>
            <a:r>
              <a:rPr lang="en-US" b="true" sz="342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Metodologia</a:t>
            </a:r>
          </a:p>
          <a:p>
            <a:pPr algn="l" marL="740537" indent="-370268" lvl="1">
              <a:lnSpc>
                <a:spcPts val="4802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Scrum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67309" y="11903153"/>
            <a:ext cx="12562770" cy="668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1"/>
              </a:lnSpc>
            </a:pP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Contexto</a:t>
            </a:r>
          </a:p>
          <a:p>
            <a:pPr algn="just">
              <a:lnSpc>
                <a:spcPts val="4801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Cannoli é uma startup foodtech que oferece CRM, automação de engajamento, cardápio digital e delivery próprio para restaurantes parceiros.</a:t>
            </a:r>
          </a:p>
          <a:p>
            <a:pPr algn="just">
              <a:lnSpc>
                <a:spcPts val="4801"/>
              </a:lnSpc>
            </a:pP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Desafio</a:t>
            </a:r>
          </a:p>
          <a:p>
            <a:pPr algn="just">
              <a:lnSpc>
                <a:spcPts val="4801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Gestores não tinham como visualizar, em um único lugar, se as campanhas contratadas estavam gerando retorno real,  pagavam pelo serviço sem evidência de resultado.</a:t>
            </a:r>
          </a:p>
          <a:p>
            <a:pPr algn="just">
              <a:lnSpc>
                <a:spcPts val="4801"/>
              </a:lnSpc>
            </a:pP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Impacto</a:t>
            </a:r>
          </a:p>
          <a:p>
            <a:pPr algn="just">
              <a:lnSpc>
                <a:spcPts val="4802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Decisões tomadas sem dados consolidados, dificultando a fidelização e a comprovação de valor do serviço.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73257" y="20942929"/>
            <a:ext cx="12562770" cy="912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1"/>
              </a:lnSpc>
            </a:pP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</a:t>
            </a: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etivo</a:t>
            </a:r>
          </a:p>
          <a:p>
            <a:pPr algn="just">
              <a:lnSpc>
                <a:spcPts val="4801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Dashboard web seguro e escalável que comprova, com dados, se as campanhas da Cannoli geram impacto real no faturamento dos parceiros.</a:t>
            </a:r>
          </a:p>
          <a:p>
            <a:pPr algn="just">
              <a:lnSpc>
                <a:spcPts val="4801"/>
              </a:lnSpc>
            </a:pP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Cannoli Admin: 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visão consolidada de todos os parceiros, campanhas e canais</a:t>
            </a:r>
          </a:p>
          <a:p>
            <a:pPr algn="just">
              <a:lnSpc>
                <a:spcPts val="4801"/>
              </a:lnSpc>
            </a:pP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Parceira: 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visão individual do próprio desempenho e retorno de campanhas</a:t>
            </a:r>
          </a:p>
          <a:p>
            <a:pPr algn="just">
              <a:lnSpc>
                <a:spcPts val="4801"/>
              </a:lnSpc>
            </a:pP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Funcionalidades entregues</a:t>
            </a:r>
          </a:p>
          <a:p>
            <a:pPr algn="l" marL="740536" indent="-370268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KPIs: faturamento, ticket médio, recorrência</a:t>
            </a:r>
          </a:p>
          <a:p>
            <a:pPr algn="l" marL="740536" indent="-370268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Pedidos orgâ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nicos vs campanhas, comparativo direto</a:t>
            </a:r>
          </a:p>
          <a:p>
            <a:pPr algn="l" marL="740536" indent="-370268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Visão: Geral, Campanhas, Lojas e Clientes</a:t>
            </a:r>
          </a:p>
          <a:p>
            <a:pPr algn="l" marL="740536" indent="-370268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ontrole de acesso por perfil</a:t>
            </a:r>
          </a:p>
          <a:p>
            <a:pPr algn="just">
              <a:lnSpc>
                <a:spcPts val="4801"/>
              </a:lnSpc>
            </a:pP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Público-alvo</a:t>
            </a:r>
          </a:p>
          <a:p>
            <a:pPr algn="just">
              <a:lnSpc>
                <a:spcPts val="4802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Gestores da Cannoli e restaurantes parceiros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6931" y="39577061"/>
            <a:ext cx="28242692" cy="181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6"/>
              </a:lnSpc>
            </a:pPr>
            <a:r>
              <a:rPr lang="en-US" sz="495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SEMANA DE TECNOLOGIA - 2026</a:t>
            </a:r>
          </a:p>
          <a:p>
            <a:pPr algn="ctr">
              <a:lnSpc>
                <a:spcPts val="6936"/>
              </a:lnSpc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617819" y="10824932"/>
            <a:ext cx="11904154" cy="668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1"/>
              </a:lnSpc>
            </a:pP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</a:t>
            </a: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ransparência para o parceiro</a:t>
            </a:r>
          </a:p>
          <a:p>
            <a:pPr algn="l" marL="740536" indent="-370268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Visualização direta de pedidos gerados por campanha  orgânico</a:t>
            </a:r>
          </a:p>
          <a:p>
            <a:pPr algn="l" marL="740536" indent="-370268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Comparativo de faturamento antes vs durante campanhas ativas</a:t>
            </a:r>
          </a:p>
          <a:p>
            <a:pPr algn="l" marL="740536" indent="-370268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parceiro decide com dados se vale renovar ou ajustar a estratégia</a:t>
            </a:r>
          </a:p>
          <a:p>
            <a:pPr algn="just">
              <a:lnSpc>
                <a:spcPts val="4801"/>
              </a:lnSpc>
            </a:pP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Perfil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Cannoli Admin: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monitoramento global de parceiros e KPIs</a:t>
            </a:r>
          </a:p>
          <a:p>
            <a:pPr algn="just">
              <a:lnSpc>
                <a:spcPts val="4802"/>
              </a:lnSpc>
            </a:pP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Perfil </a:t>
            </a: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Parceira: 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acompanhamento individual de desempenho e campanhas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743887" y="23099378"/>
            <a:ext cx="11652018" cy="668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1"/>
              </a:lnSpc>
            </a:pP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</a:t>
            </a: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que o dashboard revela</a:t>
            </a:r>
          </a:p>
          <a:p>
            <a:pPr algn="l" marL="740536" indent="-370268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Horários e dias de maior movimento para direcionar campanhas</a:t>
            </a:r>
          </a:p>
          <a:p>
            <a:pPr algn="l" marL="740536" indent="-370268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Concentração de risco em canais de venda</a:t>
            </a:r>
          </a:p>
          <a:p>
            <a:pPr algn="l" marL="740536" indent="-370268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Quedas de receita identificadas automaticamente antes de virarem prejuízo</a:t>
            </a:r>
          </a:p>
          <a:p>
            <a:pPr algn="just">
              <a:lnSpc>
                <a:spcPts val="4801"/>
              </a:lnSpc>
            </a:pPr>
            <a:r>
              <a:rPr lang="en-US" sz="3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Impacto geral</a:t>
            </a:r>
          </a:p>
          <a:p>
            <a:pPr algn="l" marL="740536" indent="-370268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Decisões baseadas em dados, não por suposição</a:t>
            </a:r>
          </a:p>
          <a:p>
            <a:pPr algn="l" marL="740536" indent="-370268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Redução do tempo de análise de horas para minutos</a:t>
            </a:r>
          </a:p>
          <a:p>
            <a:pPr algn="l" marL="740537" indent="-370268" lvl="1">
              <a:lnSpc>
                <a:spcPts val="4802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ROI das campanhas visível e justificável para o parceiro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DAHIten6C8A</dc:identifier>
  <dcterms:modified xsi:type="dcterms:W3CDTF">2011-08-01T06:04:30Z</dcterms:modified>
  <cp:revision>1</cp:revision>
  <dc:title>Banner_FECAP_CCOMP4_Brunettes.pptx</dc:title>
</cp:coreProperties>
</file>